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77" r:id="rId3"/>
    <p:sldId id="258" r:id="rId4"/>
    <p:sldId id="257" r:id="rId5"/>
    <p:sldId id="259" r:id="rId6"/>
    <p:sldId id="261" r:id="rId7"/>
    <p:sldId id="260" r:id="rId8"/>
    <p:sldId id="278" r:id="rId9"/>
    <p:sldId id="263" r:id="rId10"/>
    <p:sldId id="285" r:id="rId11"/>
    <p:sldId id="276" r:id="rId12"/>
    <p:sldId id="284" r:id="rId13"/>
    <p:sldId id="274" r:id="rId14"/>
    <p:sldId id="262" r:id="rId15"/>
    <p:sldId id="289" r:id="rId16"/>
    <p:sldId id="287" r:id="rId17"/>
    <p:sldId id="264" r:id="rId18"/>
    <p:sldId id="269" r:id="rId19"/>
    <p:sldId id="266" r:id="rId20"/>
    <p:sldId id="268" r:id="rId21"/>
    <p:sldId id="270" r:id="rId22"/>
    <p:sldId id="272" r:id="rId23"/>
    <p:sldId id="282" r:id="rId24"/>
    <p:sldId id="275" r:id="rId25"/>
    <p:sldId id="283" r:id="rId26"/>
    <p:sldId id="279" r:id="rId27"/>
    <p:sldId id="271" r:id="rId28"/>
    <p:sldId id="273" r:id="rId29"/>
    <p:sldId id="286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1BFE7-C9F5-82C4-2676-84380F1BF977}" v="5439" dt="2026-03-30T23:46:45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DED7B-8CD6-4C7B-93F7-DC79ACFFAC07}" type="datetimeFigureOut"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2E2D8-EECE-476B-80C3-3D13F3FB4C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4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DF12-32E3-4897-D872-2E313875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CA1D4-5EDA-CA81-86BB-1898E7CD3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0E058-0F6A-C782-ACF5-2EBD8EF5F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BFB68-AFDC-D667-A500-F707ABB20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8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1D43C-E93C-9F66-DCBB-F6FB94BE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BCF3E-ED9F-70CA-2161-6BF691D8E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66D12-B039-C13B-CB42-7A9E2F90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CD39D-5AA8-38D1-CD52-EC254286CD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0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12700">
            <a:solidFill>
              <a:srgbClr val="2F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HireMinds Resume Workshop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73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HireMinds.App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fTr8CsTnuo?feature=oembe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6eAQvj_5qA?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0GsNFDFtUo?feature=oembed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zbFBgGUGdU?feature=oembed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bcLJjxIpyU?feature=oembed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557"/>
            <a:ext cx="12191695" cy="6281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52707" y="2238891"/>
            <a:ext cx="3653668" cy="631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 err="1">
                <a:solidFill>
                  <a:schemeClr val="accent1">
                    <a:lumMod val="76000"/>
                  </a:schemeClr>
                </a:solidFill>
                <a:latin typeface="Garamond"/>
                <a:ea typeface="Georgia" pitchFamily="34" charset="-122"/>
                <a:cs typeface="Georgia" pitchFamily="34" charset="-120"/>
              </a:rPr>
              <a:t>HireMinds</a:t>
            </a:r>
            <a:r>
              <a:rPr lang="en-US" sz="2700" dirty="0" err="1">
                <a:solidFill>
                  <a:schemeClr val="accent1">
                    <a:lumMod val="76000"/>
                  </a:schemeClr>
                </a:solidFill>
                <a:latin typeface="Georgia"/>
                <a:ea typeface="Georgia" pitchFamily="34" charset="-122"/>
                <a:cs typeface="Georgia" pitchFamily="34" charset="-120"/>
              </a:rPr>
              <a:t>.</a:t>
            </a:r>
            <a:r>
              <a:rPr lang="en-US" sz="2700" i="1" dirty="0" err="1">
                <a:solidFill>
                  <a:schemeClr val="accent1">
                    <a:lumMod val="76000"/>
                  </a:schemeClr>
                </a:solidFill>
                <a:latin typeface="Pristina"/>
              </a:rPr>
              <a:t>app</a:t>
            </a:r>
            <a:endParaRPr lang="en-US" sz="2700" i="1">
              <a:solidFill>
                <a:schemeClr val="accent1">
                  <a:lumMod val="76000"/>
                </a:schemeClr>
              </a:solidFill>
              <a:latin typeface="Pristina"/>
            </a:endParaRPr>
          </a:p>
          <a:p>
            <a:pPr marL="0" indent="0">
              <a:buNone/>
            </a:pPr>
            <a:r>
              <a:rPr lang="en-US" sz="2700" dirty="0">
                <a:solidFill>
                  <a:schemeClr val="accent1">
                    <a:lumMod val="76000"/>
                  </a:schemeClr>
                </a:solidFill>
                <a:latin typeface="Garamond"/>
              </a:rPr>
              <a:t>A product of </a:t>
            </a:r>
            <a:r>
              <a:rPr lang="en-US" sz="2700" dirty="0" err="1">
                <a:solidFill>
                  <a:schemeClr val="accent1">
                    <a:lumMod val="76000"/>
                  </a:schemeClr>
                </a:solidFill>
                <a:latin typeface="Garamond"/>
              </a:rPr>
              <a:t>RicanNECT</a:t>
            </a:r>
            <a:endParaRPr lang="en-US" sz="2700" dirty="0">
              <a:solidFill>
                <a:schemeClr val="accent1">
                  <a:lumMod val="76000"/>
                </a:schemeClr>
              </a:solidFill>
              <a:latin typeface="Garamond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29733D7A-21E5-9F05-36A1-2466DCC69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35" y="806823"/>
            <a:ext cx="5271248" cy="5253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A95227-F55D-511F-EBC7-F843015604D0}"/>
              </a:ext>
            </a:extLst>
          </p:cNvPr>
          <p:cNvSpPr txBox="1"/>
          <p:nvPr/>
        </p:nvSpPr>
        <p:spPr>
          <a:xfrm>
            <a:off x="1444474" y="3741848"/>
            <a:ext cx="22541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76000"/>
                  </a:schemeClr>
                </a:solidFill>
                <a:latin typeface="Garamond"/>
              </a:rPr>
              <a:t>Ismary Torres Szegedi</a:t>
            </a:r>
          </a:p>
          <a:p>
            <a:r>
              <a:rPr lang="en-US" dirty="0" err="1">
                <a:solidFill>
                  <a:schemeClr val="accent1">
                    <a:lumMod val="76000"/>
                  </a:schemeClr>
                </a:solidFill>
                <a:latin typeface="Garamond"/>
              </a:rPr>
              <a:t>Info@hireminds.app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FCE7F5-648A-F6FC-BA21-AEF77DD9D723}"/>
              </a:ext>
            </a:extLst>
          </p:cNvPr>
          <p:cNvSpPr txBox="1"/>
          <p:nvPr/>
        </p:nvSpPr>
        <p:spPr>
          <a:xfrm>
            <a:off x="3426735" y="4044623"/>
            <a:ext cx="552621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dirty="0">
                <a:solidFill>
                  <a:schemeClr val="bg1"/>
                </a:solidFill>
                <a:latin typeface="Garamond"/>
              </a:rPr>
              <a:t>Together, we are empowering participants with the tools to </a:t>
            </a:r>
            <a:r>
              <a:rPr lang="en-US">
                <a:solidFill>
                  <a:schemeClr val="bg1"/>
                </a:solidFill>
                <a:latin typeface="Garamond"/>
              </a:rPr>
              <a:t>create</a:t>
            </a:r>
            <a:r>
              <a:rPr lang="en-US" dirty="0">
                <a:solidFill>
                  <a:schemeClr val="bg1"/>
                </a:solidFill>
                <a:latin typeface="Garamond"/>
              </a:rPr>
              <a:t> professional resumes and move closer to meaningful </a:t>
            </a:r>
            <a:r>
              <a:rPr lang="en-US">
                <a:solidFill>
                  <a:schemeClr val="bg1"/>
                </a:solidFill>
                <a:latin typeface="Garamond"/>
              </a:rPr>
              <a:t>employment.</a:t>
            </a:r>
          </a:p>
        </p:txBody>
      </p:sp>
      <p:pic>
        <p:nvPicPr>
          <p:cNvPr id="4" name="Picture 3" descr="A group of logos with text&#10;&#10;AI-generated content may be incorrect.">
            <a:extLst>
              <a:ext uri="{FF2B5EF4-FFF2-40B4-BE49-F238E27FC236}">
                <a16:creationId xmlns:a16="http://schemas.microsoft.com/office/drawing/2014/main" id="{483AF2CD-52BC-7D97-CCFD-C0AFD9011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25" t="6221" r="25610" b="67051"/>
          <a:stretch>
            <a:fillRect/>
          </a:stretch>
        </p:blipFill>
        <p:spPr>
          <a:xfrm>
            <a:off x="1410" y="2"/>
            <a:ext cx="2933882" cy="1900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3E0E2B-E385-692C-B229-55955F531920}"/>
              </a:ext>
            </a:extLst>
          </p:cNvPr>
          <p:cNvSpPr txBox="1"/>
          <p:nvPr/>
        </p:nvSpPr>
        <p:spPr>
          <a:xfrm>
            <a:off x="2209751" y="1988140"/>
            <a:ext cx="7965188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Garamond"/>
              </a:rPr>
              <a:t>Welcome to the Resume Workshop </a:t>
            </a:r>
            <a:endParaRPr lang="en-US"/>
          </a:p>
          <a:p>
            <a:pPr algn="ctr"/>
            <a:r>
              <a:rPr lang="en-US" sz="2800">
                <a:solidFill>
                  <a:schemeClr val="bg1"/>
                </a:solidFill>
                <a:latin typeface="Garamond"/>
              </a:rPr>
              <a:t>This Presentation was created for our partner, </a:t>
            </a:r>
          </a:p>
          <a:p>
            <a:pPr algn="ctr"/>
            <a:r>
              <a:rPr lang="en-US" sz="2800" b="1">
                <a:solidFill>
                  <a:schemeClr val="bg1"/>
                </a:solidFill>
                <a:latin typeface="Garamond"/>
              </a:rPr>
              <a:t>YWCA</a:t>
            </a:r>
            <a:r>
              <a:rPr lang="en-US" sz="2800" dirty="0">
                <a:solidFill>
                  <a:schemeClr val="bg1"/>
                </a:solidFill>
                <a:latin typeface="Garamond"/>
              </a:rPr>
              <a:t> 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Garamond"/>
              </a:rPr>
              <a:t>Presented by </a:t>
            </a:r>
            <a:r>
              <a:rPr lang="en-US" sz="2800" b="1" dirty="0">
                <a:solidFill>
                  <a:schemeClr val="accent1">
                    <a:lumMod val="76000"/>
                  </a:schemeClr>
                </a:solidFill>
                <a:latin typeface="Garamond"/>
              </a:rPr>
              <a:t>H</a:t>
            </a:r>
            <a:r>
              <a:rPr lang="en-US" sz="2800" dirty="0">
                <a:solidFill>
                  <a:schemeClr val="bg1"/>
                </a:solidFill>
                <a:latin typeface="Garamond"/>
              </a:rPr>
              <a:t>ire</a:t>
            </a:r>
            <a:r>
              <a:rPr lang="en-US" sz="2800" b="1" dirty="0">
                <a:solidFill>
                  <a:schemeClr val="accent1">
                    <a:lumMod val="76000"/>
                  </a:schemeClr>
                </a:solidFill>
                <a:latin typeface="Garamond"/>
              </a:rPr>
              <a:t>M</a:t>
            </a:r>
            <a:r>
              <a:rPr lang="en-US" sz="2800" dirty="0">
                <a:solidFill>
                  <a:schemeClr val="bg1"/>
                </a:solidFill>
                <a:latin typeface="Garamond"/>
              </a:rPr>
              <a:t>inds.</a:t>
            </a:r>
            <a:r>
              <a:rPr lang="en-US" sz="2800" b="1" dirty="0">
                <a:solidFill>
                  <a:schemeClr val="accent1">
                    <a:lumMod val="76000"/>
                  </a:schemeClr>
                </a:solidFill>
                <a:latin typeface="Pristina"/>
              </a:rPr>
              <a:t>app</a:t>
            </a:r>
            <a:endParaRPr lang="en-US" b="1">
              <a:solidFill>
                <a:schemeClr val="accent1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67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Housekeeping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A few expectations before we begin.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22909" y="1892316"/>
            <a:ext cx="32053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expectations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81565" y="1875929"/>
            <a:ext cx="1775379" cy="336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flow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7034" y="2698627"/>
            <a:ext cx="4787654" cy="14302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Please silence or turn off cell phones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engaged and follow along on the website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questions at any time if you get stuck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login information available for today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 everyone’s pace and privacy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7754" y="2420046"/>
            <a:ext cx="4787654" cy="21267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hands-on working session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will pause for two 15-minute breaks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will complete short activities throughout the workshop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 is to leave with real progress, not just information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check: review resume and next steps before dismissal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outcomes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What participants should know and complete before they leave.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25608" y="1796886"/>
            <a:ext cx="33617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the session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96681" y="179688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Participants will also practice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7034" y="2567530"/>
            <a:ext cx="4787654" cy="18466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Career Passport account and sign in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core profile information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or improve a resume using HireMinds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how to use generators for job search tasks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soft skills and industry core skills to strengthen applications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7754" y="2567530"/>
            <a:ext cx="4787654" cy="15508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Navigating the home page and profile editor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interview question and follow-up tools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 skills and goals that support target roles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the job log and budget tools for planning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community support and next-step resources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Suggested flow for a full working session.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4480560"/>
          </a:xfrm>
          <a:prstGeom prst="roundRect">
            <a:avLst>
              <a:gd name="adj" fmla="val 1633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384048" cy="384048"/>
          </a:xfrm>
          <a:prstGeom prst="round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11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44752" y="163677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Create Career Passport account and sign 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04288"/>
            <a:ext cx="384048" cy="384048"/>
          </a:xfrm>
          <a:prstGeom prst="round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225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11F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44752" y="229514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Review the </a:t>
            </a:r>
            <a:r>
              <a:rPr lang="en-US" dirty="0" err="1">
                <a:solidFill>
                  <a:srgbClr val="F4F6F8"/>
                </a:solidFill>
              </a:rPr>
              <a:t>CareerToolkit</a:t>
            </a:r>
            <a:r>
              <a:rPr lang="en-US" sz="1800" dirty="0">
                <a:solidFill>
                  <a:srgbClr val="F4F6F8"/>
                </a:solidFill>
              </a:rPr>
              <a:t> and navigation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962656"/>
            <a:ext cx="384048" cy="384048"/>
          </a:xfrm>
          <a:prstGeom prst="round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8094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11F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44752" y="29535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>
                <a:solidFill>
                  <a:srgbClr val="F4F6F8"/>
                </a:solidFill>
              </a:rPr>
              <a:t>Complete the </a:t>
            </a:r>
            <a:r>
              <a:rPr lang="en-US">
                <a:solidFill>
                  <a:srgbClr val="F4F6F8"/>
                </a:solidFill>
              </a:rPr>
              <a:t>career passport private</a:t>
            </a:r>
            <a:r>
              <a:rPr lang="en-US" sz="1800">
                <a:solidFill>
                  <a:srgbClr val="F4F6F8"/>
                </a:solidFill>
              </a:rPr>
              <a:t> profile editor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384048" cy="384048"/>
          </a:xfrm>
          <a:prstGeom prst="round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393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11F"/>
                </a:solidFill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44752" y="3611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Build the resume and review resume formats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79392"/>
            <a:ext cx="384048" cy="384048"/>
          </a:xfrm>
          <a:prstGeom prst="round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11F"/>
                </a:solidFill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44752" y="4270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Practice cover letters, interview tools, and follow-up tools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384048" cy="384048"/>
          </a:xfrm>
          <a:prstGeom prst="roundRect">
            <a:avLst/>
          </a:prstGeom>
          <a:solidFill>
            <a:srgbClr val="D4AF5A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56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11F"/>
                </a:solidFill>
              </a:rPr>
              <a:t>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44752" y="492861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4F6F8"/>
                </a:solidFill>
              </a:rPr>
              <a:t>Explore </a:t>
            </a:r>
            <a:r>
              <a:rPr lang="en-US" dirty="0">
                <a:solidFill>
                  <a:srgbClr val="F4F6F8"/>
                </a:solidFill>
              </a:rPr>
              <a:t>analyzer, skill cards and video library</a:t>
            </a:r>
            <a:r>
              <a:rPr lang="en-US" sz="1800" dirty="0">
                <a:solidFill>
                  <a:srgbClr val="F4F6F8"/>
                </a:solidFill>
              </a:rPr>
              <a:t> feed,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Passport home page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Use the real home page so participants know where everything lives.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17824" y="1263773"/>
            <a:ext cx="7056283" cy="4771267"/>
          </a:xfrm>
          <a:prstGeom prst="roundRect">
            <a:avLst>
              <a:gd name="adj" fmla="val 1538"/>
            </a:avLst>
          </a:prstGeom>
          <a:solidFill>
            <a:srgbClr val="09182A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78040" y="1280160"/>
            <a:ext cx="4480560" cy="4754880"/>
          </a:xfrm>
          <a:prstGeom prst="roundRect">
            <a:avLst>
              <a:gd name="adj" fmla="val 1633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32231" y="1714909"/>
            <a:ext cx="1010429" cy="24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>
                <a:solidFill>
                  <a:srgbClr val="F4F6F8"/>
                </a:solidFill>
                <a:latin typeface="Georgia"/>
              </a:rPr>
              <a:t>Sign Up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76942" y="2405560"/>
            <a:ext cx="3889640" cy="17616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Create Career Passport / sign-up </a:t>
            </a:r>
            <a:r>
              <a:rPr lang="en-US" sz="170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entry point</a:t>
            </a:r>
            <a:endParaRPr lang="en-US" sz="1700">
              <a:latin typeface="Georgia"/>
            </a:endParaRPr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 after account creation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platform connects profile setup to job search tools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C531A8-E341-F6EC-B3AF-C7F7C7764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02" y="2404140"/>
            <a:ext cx="6821846" cy="2311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Career Passport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Start on the actual sign-up page participants will use.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8963" y="1259020"/>
            <a:ext cx="6215624" cy="4913180"/>
          </a:xfrm>
          <a:prstGeom prst="roundRect">
            <a:avLst>
              <a:gd name="adj" fmla="val 1481"/>
            </a:avLst>
          </a:prstGeom>
          <a:solidFill>
            <a:srgbClr val="09182A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25467" y="556997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7465" y="837971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enter first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186561" y="1545959"/>
            <a:ext cx="43891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name, phone number, city, and state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address and password for the new account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an email participants can access right away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Enter </a:t>
            </a:r>
            <a:r>
              <a:rPr lang="en-US" sz="170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Referral Code: </a:t>
            </a:r>
            <a:r>
              <a:rPr lang="en-US" sz="1700" b="1">
                <a:solidFill>
                  <a:srgbClr val="7030A0"/>
                </a:solidFill>
                <a:latin typeface="Georgia"/>
                <a:ea typeface="Georgia" pitchFamily="34" charset="-122"/>
                <a:cs typeface="Georgia" pitchFamily="34" charset="-120"/>
              </a:rPr>
              <a:t>YWCA</a:t>
            </a:r>
            <a:endParaRPr lang="en-US" sz="1700" b="1" dirty="0">
              <a:solidFill>
                <a:srgbClr val="7030A0"/>
              </a:solidFill>
              <a:latin typeface="Georgia"/>
              <a:ea typeface="Georgia" pitchFamily="34" charset="-122"/>
              <a:cs typeface="Georgia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down login information before moving forward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29400" y="4754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D4AF5A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629400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B9C7D8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Picture 5" descr="A black screen shot of a computer&#10;&#10;AI-generated content may be incorrect.">
            <a:extLst>
              <a:ext uri="{FF2B5EF4-FFF2-40B4-BE49-F238E27FC236}">
                <a16:creationId xmlns:a16="http://schemas.microsoft.com/office/drawing/2014/main" id="{36AA8ED8-68C5-A837-B124-1DC946463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0" y="1344705"/>
            <a:ext cx="3910799" cy="4751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4BFE6-BE8F-6B35-5F54-BD41F57E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DE425D-6BE0-6C39-8A69-1A24422C43A2}"/>
              </a:ext>
            </a:extLst>
          </p:cNvPr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private profile editor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C39FEC-6FF5-8393-A87A-DA42680F9873}"/>
              </a:ext>
            </a:extLst>
          </p:cNvPr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659626-2D55-1C35-995A-5571BAEB8642}"/>
              </a:ext>
            </a:extLst>
          </p:cNvPr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This is the core setup area participants should finish early in the workshop.</a:t>
            </a:r>
            <a:endParaRPr lang="en-US" sz="11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8CA53C5-B835-4DA5-C148-25829FE3CF61}"/>
              </a:ext>
            </a:extLst>
          </p:cNvPr>
          <p:cNvSpPr/>
          <p:nvPr/>
        </p:nvSpPr>
        <p:spPr>
          <a:xfrm>
            <a:off x="502920" y="1234440"/>
            <a:ext cx="6588433" cy="5121459"/>
          </a:xfrm>
          <a:prstGeom prst="roundRect">
            <a:avLst>
              <a:gd name="adj" fmla="val 1495"/>
            </a:avLst>
          </a:prstGeom>
          <a:solidFill>
            <a:srgbClr val="09182A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0564583-C4AD-CDAC-695C-6256C11BF543}"/>
              </a:ext>
            </a:extLst>
          </p:cNvPr>
          <p:cNvSpPr/>
          <p:nvPr/>
        </p:nvSpPr>
        <p:spPr>
          <a:xfrm>
            <a:off x="7360920" y="1371600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31A470F-CDAE-FCAD-4363-F97200F0C1EB}"/>
              </a:ext>
            </a:extLst>
          </p:cNvPr>
          <p:cNvSpPr/>
          <p:nvPr/>
        </p:nvSpPr>
        <p:spPr>
          <a:xfrm>
            <a:off x="8302359" y="219144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fields</a:t>
            </a:r>
            <a:endParaRPr lang="en-US" sz="1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6B6FC70-E638-DB77-1065-AC90BDA30FC1}"/>
              </a:ext>
            </a:extLst>
          </p:cNvPr>
          <p:cNvSpPr/>
          <p:nvPr/>
        </p:nvSpPr>
        <p:spPr>
          <a:xfrm>
            <a:off x="7638681" y="2888390"/>
            <a:ext cx="3657600" cy="17409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information and contact details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LinkedIn, city, state, and professional headline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Short bio or summary statement</a:t>
            </a:r>
            <a:endParaRPr lang="en-US" sz="1650">
              <a:latin typeface="Georgia"/>
            </a:endParaRPr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Profile photo only if appropriate and professional</a:t>
            </a:r>
            <a:endParaRPr lang="en-US" sz="1650" dirty="0">
              <a:latin typeface="Georgia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9C4ED6A-8001-A7DF-25E1-ED31C34E93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60FBE0-C70C-5039-7B02-DAB919E14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49" y="1237225"/>
            <a:ext cx="4635684" cy="512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6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4809766-B385-465F-B3D9-4A1DA1C266F0.jpeg"/>
          <p:cNvPicPr>
            <a:picLocks noChangeAspect="1"/>
          </p:cNvPicPr>
          <p:nvPr/>
        </p:nvPicPr>
        <p:blipFill>
          <a:blip r:embed="rId3"/>
          <a:srcRect t="11355" b="11355"/>
          <a:stretch/>
        </p:blipFill>
        <p:spPr>
          <a:xfrm>
            <a:off x="0" y="164592"/>
            <a:ext cx="12191695" cy="6281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4592"/>
            <a:ext cx="12191695" cy="6281928"/>
          </a:xfrm>
          <a:prstGeom prst="rect">
            <a:avLst/>
          </a:prstGeom>
          <a:solidFill>
            <a:srgbClr val="08111F">
              <a:alpha val="62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1 — 15 minutes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Stretch, check logins, and be ready to build documents when we return.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A00A-95EF-B6C1-313B-E40C3839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96B9D1E0-3149-56B8-5EC6-08A3BD237913}"/>
              </a:ext>
            </a:extLst>
          </p:cNvPr>
          <p:cNvSpPr/>
          <p:nvPr/>
        </p:nvSpPr>
        <p:spPr>
          <a:xfrm>
            <a:off x="4943824" y="1375041"/>
            <a:ext cx="6214314" cy="3935526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BF892-B7F7-DBEA-EC0A-59D9E17936ED}"/>
              </a:ext>
            </a:extLst>
          </p:cNvPr>
          <p:cNvSpPr txBox="1"/>
          <p:nvPr/>
        </p:nvSpPr>
        <p:spPr>
          <a:xfrm>
            <a:off x="5891161" y="2740742"/>
            <a:ext cx="447367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FFFFFF"/>
                </a:solidFill>
                <a:latin typeface="Aptos"/>
                <a:ea typeface="Arial"/>
                <a:cs typeface="Arial"/>
              </a:rPr>
              <a:t>Helps you understand what the employer is </a:t>
            </a: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really looking for</a:t>
            </a:r>
            <a:endParaRPr lang="en-US" sz="1800" b="0" i="0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Shows whether your skills and experience match the role</a:t>
            </a: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FFFFFF"/>
                </a:solidFill>
                <a:latin typeface="Aptos"/>
                <a:ea typeface="Arial"/>
                <a:cs typeface="Arial"/>
              </a:rPr>
              <a:t>Helps you identify important keywords to use in your resume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Gives insight into job duties, expectations, and qualifications</a:t>
            </a:r>
            <a:endParaRPr lang="en-US" sz="1800" b="0" i="0">
              <a:solidFill>
                <a:srgbClr val="FFFFFF"/>
              </a:solidFill>
              <a:latin typeface="Aptos"/>
              <a:ea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E0B7C-7A34-D0C3-7F84-43F8A4B754B9}"/>
              </a:ext>
            </a:extLst>
          </p:cNvPr>
          <p:cNvSpPr txBox="1"/>
          <p:nvPr/>
        </p:nvSpPr>
        <p:spPr>
          <a:xfrm>
            <a:off x="530747" y="1660399"/>
            <a:ext cx="32497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Why Reading a Job Description Matters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426AA0-E9AB-AF5B-535E-B471A80DA74C}"/>
              </a:ext>
            </a:extLst>
          </p:cNvPr>
          <p:cNvSpPr txBox="1"/>
          <p:nvPr/>
        </p:nvSpPr>
        <p:spPr>
          <a:xfrm>
            <a:off x="531712" y="2967317"/>
            <a:ext cx="34774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Goal: Help you understand what to look for in a job posting before applying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8AED42-6DD6-FC0E-0B72-62F62C820C61}"/>
              </a:ext>
            </a:extLst>
          </p:cNvPr>
          <p:cNvSpPr txBox="1"/>
          <p:nvPr/>
        </p:nvSpPr>
        <p:spPr>
          <a:xfrm>
            <a:off x="5445914" y="1840462"/>
            <a:ext cx="52174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we're going to watch a short video on how to review a job description before applying. . </a:t>
            </a:r>
          </a:p>
        </p:txBody>
      </p:sp>
    </p:spTree>
    <p:extLst>
      <p:ext uri="{BB962C8B-B14F-4D97-AF65-F5344CB8AC3E}">
        <p14:creationId xmlns:p14="http://schemas.microsoft.com/office/powerpoint/2010/main" val="201973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How to Read &amp; Understand Job Postings (Tips to Know When to Apply!) | Indeed Career Tips">
            <a:hlinkClick r:id="" action="ppaction://noaction"/>
            <a:extLst>
              <a:ext uri="{FF2B5EF4-FFF2-40B4-BE49-F238E27FC236}">
                <a16:creationId xmlns:a16="http://schemas.microsoft.com/office/drawing/2014/main" id="{9CF64A8E-7A7F-2542-6769-AE6EDBFCA9A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6265" y="538317"/>
            <a:ext cx="11824672" cy="581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4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2716F-33C6-7B40-D89B-745D59CC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C862FC74-70FE-88ED-FBB5-52F3F7BD731B}"/>
              </a:ext>
            </a:extLst>
          </p:cNvPr>
          <p:cNvSpPr/>
          <p:nvPr/>
        </p:nvSpPr>
        <p:spPr>
          <a:xfrm>
            <a:off x="5197824" y="1383235"/>
            <a:ext cx="6214314" cy="3935526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AF5E3-194E-2D41-7971-ACDE521DEC02}"/>
              </a:ext>
            </a:extLst>
          </p:cNvPr>
          <p:cNvSpPr txBox="1"/>
          <p:nvPr/>
        </p:nvSpPr>
        <p:spPr>
          <a:xfrm>
            <a:off x="6210709" y="3068484"/>
            <a:ext cx="449006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Search for jobs using keywords and location</a:t>
            </a: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Filter results to find the best matches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FFFFFF"/>
                </a:solidFill>
                <a:latin typeface="Aptos"/>
                <a:ea typeface="Arial"/>
                <a:cs typeface="Arial"/>
              </a:rPr>
              <a:t>Read job postings carefull</a:t>
            </a: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y before applying</a:t>
            </a: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Upload your resume and complete application</a:t>
            </a: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297AB-3D42-6571-8BCE-CC2FD0CF9D3D}"/>
              </a:ext>
            </a:extLst>
          </p:cNvPr>
          <p:cNvSpPr txBox="1"/>
          <p:nvPr/>
        </p:nvSpPr>
        <p:spPr>
          <a:xfrm>
            <a:off x="170232" y="1725948"/>
            <a:ext cx="438046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Searching and Applying Using a Job Board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6A626-13D4-EC09-8F3A-35CA3A2ACED7}"/>
              </a:ext>
            </a:extLst>
          </p:cNvPr>
          <p:cNvSpPr txBox="1"/>
          <p:nvPr/>
        </p:nvSpPr>
        <p:spPr>
          <a:xfrm>
            <a:off x="867649" y="3155769"/>
            <a:ext cx="31824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Goal: Learn how to search smarter and apply with confidence.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27E7B6-7343-A34F-EE9C-41E205A4CE47}"/>
              </a:ext>
            </a:extLst>
          </p:cNvPr>
          <p:cNvSpPr txBox="1"/>
          <p:nvPr/>
        </p:nvSpPr>
        <p:spPr>
          <a:xfrm>
            <a:off x="5847398" y="1914205"/>
            <a:ext cx="52174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we're going to watch a short video demonstrating how to search and apply for jobs using a job board  </a:t>
            </a:r>
          </a:p>
        </p:txBody>
      </p:sp>
    </p:spTree>
    <p:extLst>
      <p:ext uri="{BB962C8B-B14F-4D97-AF65-F5344CB8AC3E}">
        <p14:creationId xmlns:p14="http://schemas.microsoft.com/office/powerpoint/2010/main" val="252509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Indeed: Searching and Applying for Jobs">
            <a:hlinkClick r:id="" action="ppaction://noaction"/>
            <a:extLst>
              <a:ext uri="{FF2B5EF4-FFF2-40B4-BE49-F238E27FC236}">
                <a16:creationId xmlns:a16="http://schemas.microsoft.com/office/drawing/2014/main" id="{D3E02350-B328-D71A-8231-1DB77C2D032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1873" y="309283"/>
            <a:ext cx="11987772" cy="605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30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7180662" y="1371600"/>
            <a:ext cx="4907443" cy="4526280"/>
          </a:xfrm>
          <a:prstGeom prst="roundRect">
            <a:avLst>
              <a:gd name="adj" fmla="val 1720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8442469" y="1715794"/>
            <a:ext cx="2085422" cy="449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4F6F8"/>
                </a:solidFill>
                <a:latin typeface="Georgia"/>
              </a:rPr>
              <a:t>Career </a:t>
            </a:r>
            <a:r>
              <a:rPr lang="en-US" sz="2400" dirty="0" err="1">
                <a:solidFill>
                  <a:srgbClr val="F4F6F8"/>
                </a:solidFill>
                <a:latin typeface="Georgia"/>
              </a:rPr>
              <a:t>ToolKit</a:t>
            </a:r>
            <a:endParaRPr lang="en-US" sz="2400" dirty="0" err="1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35521" y="2511487"/>
            <a:ext cx="4747339" cy="16999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4F6F8"/>
                </a:solidFill>
                <a:latin typeface="Georgia"/>
              </a:rPr>
              <a:t>Build profe</a:t>
            </a:r>
            <a:r>
              <a:rPr lang="en-US" sz="1650">
                <a:solidFill>
                  <a:srgbClr val="F4F6F8"/>
                </a:solidFill>
                <a:latin typeface="Georgia"/>
              </a:rPr>
              <a:t>ssional resumes with guided support</a:t>
            </a:r>
            <a:endParaRPr lang="en-US" sz="1650" dirty="0">
              <a:solidFill>
                <a:srgbClr val="F4F6F8"/>
              </a:solidFill>
              <a:latin typeface="Georgia"/>
            </a:endParaRPr>
          </a:p>
          <a:p>
            <a:pPr marL="177800" indent="-177800">
              <a:buSzPct val="100000"/>
              <a:buChar char="•"/>
            </a:pPr>
            <a:r>
              <a:rPr lang="en-US" sz="165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Create tailored cover letters for job applications</a:t>
            </a:r>
            <a:endParaRPr lang="en-US" sz="1650" dirty="0">
              <a:solidFill>
                <a:srgbClr val="000000"/>
              </a:solidFill>
              <a:latin typeface="Georgia"/>
              <a:ea typeface="Georgia" pitchFamily="34" charset="-122"/>
              <a:cs typeface="Georgia" pitchFamily="34" charset="-120"/>
            </a:endParaRPr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F4F6F8"/>
                </a:solidFill>
                <a:latin typeface="Georgia"/>
              </a:rPr>
              <a:t>Prepare for </a:t>
            </a:r>
            <a:r>
              <a:rPr lang="en-US" sz="1650">
                <a:solidFill>
                  <a:srgbClr val="F4F6F8"/>
                </a:solidFill>
                <a:latin typeface="Georgia"/>
              </a:rPr>
              <a:t>interviews with practice questions</a:t>
            </a:r>
            <a:endParaRPr lang="en-US" sz="1650" dirty="0">
              <a:solidFill>
                <a:srgbClr val="F4F6F8"/>
              </a:solidFill>
              <a:latin typeface="Georgia"/>
            </a:endParaRPr>
          </a:p>
          <a:p>
            <a:pPr marL="177800" indent="-177800">
              <a:buSzPct val="100000"/>
              <a:buChar char="•"/>
            </a:pPr>
            <a:r>
              <a:rPr lang="en-US" sz="165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Create short bio or summary statement</a:t>
            </a:r>
            <a:endParaRPr lang="en-US" sz="1650">
              <a:latin typeface="Georgia"/>
            </a:endParaRPr>
          </a:p>
          <a:p>
            <a:pPr marL="177800" indent="-177800">
              <a:buSzPct val="100000"/>
              <a:buChar char="•"/>
            </a:pPr>
            <a:r>
              <a:rPr lang="en-US" sz="1650">
                <a:solidFill>
                  <a:srgbClr val="F4F6F8"/>
                </a:solidFill>
                <a:latin typeface="Georgia"/>
              </a:rPr>
              <a:t>Use budget tools</a:t>
            </a:r>
            <a:endParaRPr lang="en-US" sz="1650" dirty="0"/>
          </a:p>
          <a:p>
            <a:pPr marL="177800" indent="-177800">
              <a:buSzPct val="100000"/>
              <a:buFontTx/>
              <a:buChar char="•"/>
            </a:pPr>
            <a:r>
              <a:rPr lang="en-US" sz="1650">
                <a:solidFill>
                  <a:srgbClr val="F4F6F8"/>
                </a:solidFill>
                <a:latin typeface="Georgia"/>
                <a:ea typeface="+mn-lt"/>
                <a:cs typeface="+mn-lt"/>
              </a:rPr>
              <a:t>Watch short videos on resume, interviews, job applications, job boards, and career tips.</a:t>
            </a:r>
            <a:endParaRPr lang="en-US" sz="1650" dirty="0">
              <a:solidFill>
                <a:srgbClr val="F4F6F8"/>
              </a:solidFill>
              <a:latin typeface="Georgia"/>
              <a:ea typeface="+mn-lt"/>
              <a:cs typeface="+mn-lt"/>
            </a:endParaRPr>
          </a:p>
          <a:p>
            <a:pPr marL="177800" indent="-177800">
              <a:buSzPct val="100000"/>
              <a:buFont typeface="Arial"/>
              <a:buChar char="•"/>
            </a:pPr>
            <a:endParaRPr lang="en-US" sz="1100" dirty="0">
              <a:solidFill>
                <a:srgbClr val="D4D4D8"/>
              </a:solidFill>
              <a:highlight>
                <a:srgbClr val="050505"/>
              </a:highlight>
              <a:latin typeface="Apto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6" name="Picture 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5B3B9523-3827-48E0-FB03-50CDC8826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73" y="172067"/>
            <a:ext cx="6689143" cy="6284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84664-4FAC-A697-B9F2-33509C36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1AAE96F7-F6B9-B7E5-E1FB-F85BC130CBA9}"/>
              </a:ext>
            </a:extLst>
          </p:cNvPr>
          <p:cNvSpPr/>
          <p:nvPr/>
        </p:nvSpPr>
        <p:spPr>
          <a:xfrm>
            <a:off x="5197824" y="1383235"/>
            <a:ext cx="6214314" cy="3935526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2668D-7A23-1109-A928-BD0DBDB9026B}"/>
              </a:ext>
            </a:extLst>
          </p:cNvPr>
          <p:cNvSpPr txBox="1"/>
          <p:nvPr/>
        </p:nvSpPr>
        <p:spPr>
          <a:xfrm>
            <a:off x="6210709" y="3068484"/>
            <a:ext cx="449006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Explains the importance of clear headings and sections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FFFFFF"/>
                </a:solidFill>
                <a:latin typeface="Aptos"/>
                <a:ea typeface="Arial"/>
                <a:cs typeface="Arial"/>
              </a:rPr>
              <a:t>Reviews spacing, </a:t>
            </a: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alignment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Make it easy to scan by employer and ATS</a:t>
            </a: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Supports a stronger first impression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63531-5815-FC3B-577D-74330611C210}"/>
              </a:ext>
            </a:extLst>
          </p:cNvPr>
          <p:cNvSpPr txBox="1"/>
          <p:nvPr/>
        </p:nvSpPr>
        <p:spPr>
          <a:xfrm>
            <a:off x="424231" y="1914400"/>
            <a:ext cx="3069496" cy="469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Resume </a:t>
            </a:r>
            <a:r>
              <a:rPr lang="en-US" sz="2400" b="1">
                <a:solidFill>
                  <a:schemeClr val="bg1"/>
                </a:solidFill>
              </a:rPr>
              <a:t>Formatting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42648-C500-2063-1419-11B5B7337691}"/>
              </a:ext>
            </a:extLst>
          </p:cNvPr>
          <p:cNvSpPr txBox="1"/>
          <p:nvPr/>
        </p:nvSpPr>
        <p:spPr>
          <a:xfrm>
            <a:off x="867649" y="3155769"/>
            <a:ext cx="31824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Goal: Help participants understand how to organize and format </a:t>
            </a:r>
            <a:r>
              <a:rPr lang="en-US">
                <a:solidFill>
                  <a:schemeClr val="bg1"/>
                </a:solidFill>
              </a:rPr>
              <a:t>their resume.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531DD-6C90-9616-3C41-C1BB89A5F93E}"/>
              </a:ext>
            </a:extLst>
          </p:cNvPr>
          <p:cNvSpPr txBox="1"/>
          <p:nvPr/>
        </p:nvSpPr>
        <p:spPr>
          <a:xfrm>
            <a:off x="5847398" y="1914205"/>
            <a:ext cx="52174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we're going to watch a short video that shows how to format a resume, so it looks clean, professional, and easy to read.</a:t>
            </a:r>
          </a:p>
        </p:txBody>
      </p:sp>
    </p:spTree>
    <p:extLst>
      <p:ext uri="{BB962C8B-B14F-4D97-AF65-F5344CB8AC3E}">
        <p14:creationId xmlns:p14="http://schemas.microsoft.com/office/powerpoint/2010/main" val="3701675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Resume Writing 101">
            <a:hlinkClick r:id="" action="ppaction://noaction"/>
            <a:extLst>
              <a:ext uri="{FF2B5EF4-FFF2-40B4-BE49-F238E27FC236}">
                <a16:creationId xmlns:a16="http://schemas.microsoft.com/office/drawing/2014/main" id="{EEA17230-7A51-DC80-9E36-DB427F6A8BB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1684" y="325284"/>
            <a:ext cx="11922995" cy="607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0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2 Types of Resume </a:t>
            </a:r>
            <a:r>
              <a:rPr lang="en-US" sz="240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Generators</a:t>
            </a:r>
            <a:endParaRPr lang="en-US" sz="2400">
              <a:latin typeface="Georgi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The main tool for turning profile details into a strong working resume.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7372" y="1399622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877" y="1712058"/>
            <a:ext cx="2492478" cy="344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4F6F8"/>
                </a:solidFill>
                <a:latin typeface="Georgia"/>
              </a:rPr>
              <a:t>Resume Generator</a:t>
            </a:r>
            <a:endParaRPr lang="en-US" sz="2000" b="1" dirty="0">
              <a:solidFill>
                <a:srgbClr val="F4F6F8"/>
              </a:solidFill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8726" y="1744833"/>
            <a:ext cx="1160862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F4F6F8"/>
              </a:solidFill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1486" y="2805144"/>
            <a:ext cx="4787654" cy="247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Creates or improves resume content faster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profile details into usable resume sections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participants organize experience, education, and skills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Gives a starting point that can be edited for target jobs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89108" y="2919854"/>
            <a:ext cx="3640558" cy="17088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Font typeface="Arial"/>
              <a:buChar char="•"/>
            </a:pPr>
            <a:r>
              <a:rPr lang="en-US" sz="1700" err="1">
                <a:solidFill>
                  <a:srgbClr val="F4F6F8"/>
                </a:solidFill>
                <a:latin typeface="Georgia"/>
              </a:rPr>
              <a:t>Veteras</a:t>
            </a:r>
            <a:endParaRPr lang="en-US" sz="1700">
              <a:solidFill>
                <a:srgbClr val="F4F6F8"/>
              </a:solidFill>
              <a:latin typeface="Georgia"/>
            </a:endParaRPr>
          </a:p>
          <a:p>
            <a:pPr marL="177800" indent="-177800">
              <a:buSzPct val="100000"/>
              <a:buFont typeface="Arial"/>
              <a:buChar char="•"/>
            </a:pPr>
            <a:r>
              <a:rPr lang="en-US" sz="1700">
                <a:solidFill>
                  <a:srgbClr val="F4F6F8"/>
                </a:solidFill>
                <a:latin typeface="Georgia"/>
              </a:rPr>
              <a:t>Reentry</a:t>
            </a:r>
            <a:endParaRPr lang="en-US" sz="1700" dirty="0">
              <a:solidFill>
                <a:srgbClr val="F4F6F8"/>
              </a:solidFill>
              <a:latin typeface="Georgia"/>
            </a:endParaRPr>
          </a:p>
          <a:p>
            <a:pPr marL="177800" indent="-177800">
              <a:buSzPct val="100000"/>
              <a:buFont typeface="Arial"/>
              <a:buChar char="•"/>
            </a:pPr>
            <a:r>
              <a:rPr lang="en-US" sz="1700">
                <a:solidFill>
                  <a:srgbClr val="F4F6F8"/>
                </a:solidFill>
                <a:latin typeface="Georgia"/>
              </a:rPr>
              <a:t>Career Restart</a:t>
            </a:r>
            <a:endParaRPr lang="en-US" sz="1700" dirty="0">
              <a:solidFill>
                <a:srgbClr val="F4F6F8"/>
              </a:solidFill>
              <a:latin typeface="Georgia"/>
            </a:endParaRPr>
          </a:p>
          <a:p>
            <a:pPr marL="177800" indent="-177800">
              <a:buSzPct val="100000"/>
              <a:buFont typeface="Arial"/>
              <a:buChar char="•"/>
            </a:pPr>
            <a:r>
              <a:rPr lang="en-US" sz="1700">
                <a:solidFill>
                  <a:srgbClr val="F4F6F8"/>
                </a:solidFill>
                <a:latin typeface="Georgia"/>
              </a:rPr>
              <a:t>Stay at Home Parent</a:t>
            </a:r>
            <a:endParaRPr lang="en-US" sz="1700" dirty="0">
              <a:solidFill>
                <a:srgbClr val="F4F6F8"/>
              </a:solidFill>
              <a:latin typeface="Georgia"/>
            </a:endParaRPr>
          </a:p>
          <a:p>
            <a:pPr marL="177800" indent="-177800">
              <a:buSzPct val="100000"/>
              <a:buFont typeface="Arial"/>
              <a:buChar char="•"/>
            </a:pPr>
            <a:r>
              <a:rPr lang="en-US" sz="1700">
                <a:solidFill>
                  <a:srgbClr val="F4F6F8"/>
                </a:solidFill>
                <a:latin typeface="Georgia"/>
              </a:rPr>
              <a:t>Homemaker, Caregivers</a:t>
            </a:r>
            <a:endParaRPr lang="en-US" sz="1700" dirty="0">
              <a:solidFill>
                <a:srgbClr val="F4F6F8"/>
              </a:solidFill>
              <a:latin typeface="Georgia"/>
            </a:endParaRPr>
          </a:p>
          <a:p>
            <a:pPr marL="177800" indent="-177800">
              <a:buSzPct val="100000"/>
              <a:buFont typeface="Arial"/>
              <a:buChar char="•"/>
            </a:pPr>
            <a:r>
              <a:rPr lang="en-US" sz="1700">
                <a:solidFill>
                  <a:srgbClr val="F4F6F8"/>
                </a:solidFill>
                <a:latin typeface="Georgia"/>
              </a:rPr>
              <a:t>Little to no work experience</a:t>
            </a:r>
          </a:p>
          <a:p>
            <a:pPr marL="177800" indent="-177800">
              <a:buSzPct val="100000"/>
              <a:buFont typeface="Arial"/>
              <a:buChar char="•"/>
            </a:pPr>
            <a:endParaRPr lang="en-US" sz="1700" dirty="0">
              <a:solidFill>
                <a:srgbClr val="F4F6F8"/>
              </a:solidFill>
              <a:latin typeface="Georgia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F0765964-E751-3C60-DFCA-EF9742D47717}"/>
              </a:ext>
            </a:extLst>
          </p:cNvPr>
          <p:cNvSpPr/>
          <p:nvPr/>
        </p:nvSpPr>
        <p:spPr>
          <a:xfrm>
            <a:off x="6956716" y="1712058"/>
            <a:ext cx="3811638" cy="344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4F6F8"/>
                </a:solidFill>
                <a:latin typeface="Georgia"/>
              </a:rPr>
              <a:t>New Opportuniti</a:t>
            </a:r>
            <a:r>
              <a:rPr lang="en-US" sz="2000" b="1">
                <a:solidFill>
                  <a:srgbClr val="F4F6F8"/>
                </a:solidFill>
                <a:latin typeface="Georgia"/>
              </a:rPr>
              <a:t>es Resume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688C5-A0BF-6744-7AC5-68A9C1776941}"/>
              </a:ext>
            </a:extLst>
          </p:cNvPr>
          <p:cNvSpPr txBox="1"/>
          <p:nvPr/>
        </p:nvSpPr>
        <p:spPr>
          <a:xfrm>
            <a:off x="6633111" y="5284164"/>
            <a:ext cx="4661647" cy="6001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bg1"/>
                </a:solidFill>
                <a:highlight>
                  <a:srgbClr val="050505"/>
                </a:highlight>
                <a:ea typeface="+mn-lt"/>
                <a:cs typeface="+mn-lt"/>
              </a:rPr>
              <a:t>Created for those rebuilding, restarting, reentering, and stepping boldly into new opportunities. Designed for people turning life experience, resilience, and determination into career-ready momentum.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44E5D-3608-64FE-FAB9-31A18C9941A1}"/>
              </a:ext>
            </a:extLst>
          </p:cNvPr>
          <p:cNvSpPr txBox="1"/>
          <p:nvPr/>
        </p:nvSpPr>
        <p:spPr>
          <a:xfrm>
            <a:off x="7213118" y="2147673"/>
            <a:ext cx="26563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Fully Guided Resume Generator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Industry core skills vs Soft Skills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Use this section to connect participants with the language employers expect.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58691" y="1635521"/>
            <a:ext cx="3128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4F6F8"/>
                </a:solidFill>
                <a:latin typeface="Georgia"/>
              </a:rPr>
              <a:t>Industry Core Skills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50351" y="1572768"/>
            <a:ext cx="1394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4F6F8"/>
                </a:solidFill>
                <a:latin typeface="Georgia"/>
              </a:rPr>
              <a:t>Soft Skills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873" y="2403659"/>
            <a:ext cx="4754880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skills help resumes match real job postings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Participants can identify missing or transferable skills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page supports career exploration and stronger applications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helps facilitators coach participants toward the right language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7754" y="2321724"/>
            <a:ext cx="4754880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one target industry or job family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five core skills that fit the participant’s goals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matching skills to the resume draft where appropriate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 one skill to build next through training or experience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Generators inside </a:t>
            </a:r>
            <a:r>
              <a:rPr lang="en-US" sz="2400" dirty="0" err="1">
                <a:solidFill>
                  <a:srgbClr val="F4F6F8"/>
                </a:solidFill>
                <a:latin typeface="Georgia"/>
                <a:ea typeface="Georgia" pitchFamily="34" charset="-122"/>
                <a:cs typeface="Georgia" pitchFamily="34" charset="-120"/>
              </a:rPr>
              <a:t>HireMinds</a:t>
            </a:r>
            <a:endParaRPr lang="en-US" sz="2400" dirty="0" err="1">
              <a:latin typeface="Georgi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Planning tools help participants stay organized after today’s workshop.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743200" cy="2283379"/>
          </a:xfrm>
          <a:prstGeom prst="roundRect">
            <a:avLst>
              <a:gd name="adj" fmla="val 2667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1325880"/>
            <a:ext cx="2743200" cy="2283380"/>
          </a:xfrm>
          <a:prstGeom prst="roundRect">
            <a:avLst>
              <a:gd name="adj" fmla="val 2667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74536" y="1325880"/>
            <a:ext cx="2743200" cy="2283379"/>
          </a:xfrm>
          <a:prstGeom prst="roundRect">
            <a:avLst>
              <a:gd name="adj" fmla="val 2667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64624" y="1325880"/>
            <a:ext cx="2413163" cy="2283379"/>
          </a:xfrm>
          <a:prstGeom prst="roundRect">
            <a:avLst>
              <a:gd name="adj" fmla="val 3636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467563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Generator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4542" y="2177583"/>
            <a:ext cx="2331720" cy="13455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participants plan income and expenses during a job search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for setting realistic short-term financial goals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94760" y="1467563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Log Generator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2095648"/>
            <a:ext cx="2298946" cy="11570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Tracks applications, interviews, and follow-ups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Creates accountability and a record of progress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84848" y="1606853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Format Guide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37364" y="2357841"/>
            <a:ext cx="2331720" cy="1255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resume layout choices and when to use them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cleaner, more readable final resumes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56871" y="1467563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Path Generator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56871" y="2095647"/>
            <a:ext cx="1554480" cy="142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participants see possible next roles and advancement options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B2041A5-D3F2-6F27-185C-BEB20CFCB30E}"/>
              </a:ext>
            </a:extLst>
          </p:cNvPr>
          <p:cNvSpPr/>
          <p:nvPr/>
        </p:nvSpPr>
        <p:spPr>
          <a:xfrm>
            <a:off x="9564624" y="3898654"/>
            <a:ext cx="2413163" cy="2283379"/>
          </a:xfrm>
          <a:prstGeom prst="roundRect">
            <a:avLst>
              <a:gd name="adj" fmla="val 3636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D487EBE8-DCE3-B5CA-2D78-61156172937C}"/>
              </a:ext>
            </a:extLst>
          </p:cNvPr>
          <p:cNvSpPr/>
          <p:nvPr/>
        </p:nvSpPr>
        <p:spPr>
          <a:xfrm>
            <a:off x="6582729" y="3972396"/>
            <a:ext cx="2743200" cy="2283379"/>
          </a:xfrm>
          <a:prstGeom prst="roundRect">
            <a:avLst>
              <a:gd name="adj" fmla="val 2667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8767E1B7-7553-CF61-97E2-5ED61F6EA6FF}"/>
              </a:ext>
            </a:extLst>
          </p:cNvPr>
          <p:cNvSpPr/>
          <p:nvPr/>
        </p:nvSpPr>
        <p:spPr>
          <a:xfrm>
            <a:off x="3592641" y="3972396"/>
            <a:ext cx="2743200" cy="2283380"/>
          </a:xfrm>
          <a:prstGeom prst="roundRect">
            <a:avLst>
              <a:gd name="adj" fmla="val 2667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B87E5FD-6DA9-C3FB-88FE-DEC966FC794C}"/>
              </a:ext>
            </a:extLst>
          </p:cNvPr>
          <p:cNvSpPr/>
          <p:nvPr/>
        </p:nvSpPr>
        <p:spPr>
          <a:xfrm>
            <a:off x="602553" y="3972396"/>
            <a:ext cx="2743200" cy="2283379"/>
          </a:xfrm>
          <a:prstGeom prst="roundRect">
            <a:avLst>
              <a:gd name="adj" fmla="val 2667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62513C5-1743-D506-2ACA-49939047CC1B}"/>
              </a:ext>
            </a:extLst>
          </p:cNvPr>
          <p:cNvSpPr/>
          <p:nvPr/>
        </p:nvSpPr>
        <p:spPr>
          <a:xfrm>
            <a:off x="795364" y="4865067"/>
            <a:ext cx="2331720" cy="1255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resume layout choices and when to use them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cleaner, more readable final resumes</a:t>
            </a:r>
            <a:endParaRPr lang="en-US" sz="145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54252B35-98F0-60B3-743A-D6BCF6E5CCC1}"/>
              </a:ext>
            </a:extLst>
          </p:cNvPr>
          <p:cNvSpPr/>
          <p:nvPr/>
        </p:nvSpPr>
        <p:spPr>
          <a:xfrm>
            <a:off x="3786009" y="4930615"/>
            <a:ext cx="2331720" cy="1255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resume layout choices and when to use them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cleaner, more readable final resumes</a:t>
            </a:r>
            <a:endParaRPr lang="en-US" sz="145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9AB2B815-C02F-9FED-B302-525B87C5D610}"/>
              </a:ext>
            </a:extLst>
          </p:cNvPr>
          <p:cNvSpPr/>
          <p:nvPr/>
        </p:nvSpPr>
        <p:spPr>
          <a:xfrm>
            <a:off x="6776653" y="4930614"/>
            <a:ext cx="2331720" cy="1255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resume layout choices and when to use them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cleaner, more readable final resumes</a:t>
            </a:r>
            <a:endParaRPr lang="en-US" sz="14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426EDB29-82E5-105D-6574-FF1F18B163F9}"/>
              </a:ext>
            </a:extLst>
          </p:cNvPr>
          <p:cNvSpPr/>
          <p:nvPr/>
        </p:nvSpPr>
        <p:spPr>
          <a:xfrm>
            <a:off x="9644396" y="4865067"/>
            <a:ext cx="2331720" cy="1255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resume layout choices and when to use them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cleaner, more readable final resumes</a:t>
            </a:r>
            <a:endParaRPr lang="en-US" sz="14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33C8AD-5655-449B-0FFC-AD1CB96ADCC7}"/>
              </a:ext>
            </a:extLst>
          </p:cNvPr>
          <p:cNvSpPr txBox="1"/>
          <p:nvPr/>
        </p:nvSpPr>
        <p:spPr>
          <a:xfrm>
            <a:off x="712838" y="4141838"/>
            <a:ext cx="24334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F4F6F8"/>
                </a:solidFill>
                <a:latin typeface="Georgia"/>
              </a:rPr>
              <a:t>Job Log Generator</a:t>
            </a:r>
            <a:r>
              <a:rPr sz="1800" b="0" i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​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2C3755-636F-1EDA-58E6-3ADD2DA34CAD}"/>
              </a:ext>
            </a:extLst>
          </p:cNvPr>
          <p:cNvSpPr txBox="1"/>
          <p:nvPr/>
        </p:nvSpPr>
        <p:spPr>
          <a:xfrm>
            <a:off x="3702423" y="4105835"/>
            <a:ext cx="23308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ds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EA7C78-7DA8-9BE8-E6D1-802DCEF0F9E2}"/>
              </a:ext>
            </a:extLst>
          </p:cNvPr>
          <p:cNvSpPr txBox="1"/>
          <p:nvPr/>
        </p:nvSpPr>
        <p:spPr>
          <a:xfrm>
            <a:off x="6831106" y="4159623"/>
            <a:ext cx="21425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F4F6F8"/>
                </a:solidFill>
                <a:latin typeface="Georgia"/>
              </a:rPr>
              <a:t>Analyzer</a:t>
            </a:r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Move beyond job titles and show the strengths employers look for.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3575" y="1325880"/>
            <a:ext cx="5190121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26292E3-7B15-F25B-A13B-AF6107504F61}"/>
              </a:ext>
            </a:extLst>
          </p:cNvPr>
          <p:cNvSpPr/>
          <p:nvPr/>
        </p:nvSpPr>
        <p:spPr>
          <a:xfrm>
            <a:off x="6263640" y="1325880"/>
            <a:ext cx="5190121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3A3A3-C1F1-09F9-816D-20D66F197A7E}"/>
              </a:ext>
            </a:extLst>
          </p:cNvPr>
          <p:cNvSpPr txBox="1"/>
          <p:nvPr/>
        </p:nvSpPr>
        <p:spPr>
          <a:xfrm>
            <a:off x="1144301" y="1777324"/>
            <a:ext cx="391815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Job Description Analyzer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CCB42-7FED-A35E-A6D9-0EC8E538ACDB}"/>
              </a:ext>
            </a:extLst>
          </p:cNvPr>
          <p:cNvSpPr txBox="1"/>
          <p:nvPr/>
        </p:nvSpPr>
        <p:spPr>
          <a:xfrm>
            <a:off x="7092817" y="1777324"/>
            <a:ext cx="341015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Resume Match Analyzer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76D6A-3FD7-58FD-1527-E5FE67E850C7}"/>
              </a:ext>
            </a:extLst>
          </p:cNvPr>
          <p:cNvSpPr txBox="1"/>
          <p:nvPr/>
        </p:nvSpPr>
        <p:spPr>
          <a:xfrm>
            <a:off x="733949" y="2796988"/>
            <a:ext cx="4744256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Breaks down the job posting into key requirements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Highlights skills, duties, and qualifications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Identifies important keywords from the posting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Helps you understand what the emplo</a:t>
            </a:r>
            <a:r>
              <a:rPr lang="en-US" sz="1600">
                <a:solidFill>
                  <a:schemeClr val="bg1"/>
                </a:solidFill>
              </a:rPr>
              <a:t>yer is looking for 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Helps you fo</a:t>
            </a:r>
            <a:r>
              <a:rPr lang="en-US" sz="1600">
                <a:solidFill>
                  <a:schemeClr val="bg1"/>
                </a:solidFill>
              </a:rPr>
              <a:t>cus on the qualifications and expectations that matters most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F6B92-EEA3-5675-F412-4DAD5F817A94}"/>
              </a:ext>
            </a:extLst>
          </p:cNvPr>
          <p:cNvSpPr txBox="1"/>
          <p:nvPr/>
        </p:nvSpPr>
        <p:spPr>
          <a:xfrm>
            <a:off x="6592336" y="2796988"/>
            <a:ext cx="4744256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Compares resume to job posting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Measures how well you match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Identifies gaps or missing keywords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Helps tailor your resume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Improves your chances of getting noticed by employers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Similar to an ATS because it looks at how well a resume matches a job description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7BCBD2-675F-92F0-D01D-3F45EFC9A797}"/>
              </a:ext>
            </a:extLst>
          </p:cNvPr>
          <p:cNvSpPr txBox="1"/>
          <p:nvPr/>
        </p:nvSpPr>
        <p:spPr>
          <a:xfrm>
            <a:off x="1080102" y="5504233"/>
            <a:ext cx="40610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Goal: Helps understand what employers are looking for </a:t>
            </a:r>
            <a:r>
              <a:rPr lang="en-US" sz="1400">
                <a:solidFill>
                  <a:schemeClr val="bg1"/>
                </a:solidFill>
              </a:rPr>
              <a:t>before you apply.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991732-F175-5845-5C26-78187AF1C70A}"/>
              </a:ext>
            </a:extLst>
          </p:cNvPr>
          <p:cNvSpPr txBox="1"/>
          <p:nvPr/>
        </p:nvSpPr>
        <p:spPr>
          <a:xfrm>
            <a:off x="6930296" y="5504233"/>
            <a:ext cx="40610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Goal: Helps you compare your resume to a job posting and identify ways to improve your match.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EB2CDC47-2C6D-50AB-7A1A-F047CD38003D}"/>
              </a:ext>
            </a:extLst>
          </p:cNvPr>
          <p:cNvSpPr/>
          <p:nvPr/>
        </p:nvSpPr>
        <p:spPr>
          <a:xfrm>
            <a:off x="1741456" y="1514331"/>
            <a:ext cx="7801897" cy="4526280"/>
          </a:xfrm>
          <a:prstGeom prst="roundRect">
            <a:avLst>
              <a:gd name="adj" fmla="val 1616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F4F6F8"/>
                </a:solidFill>
                <a:latin typeface="Georgia"/>
              </a:rPr>
              <a:t>Vid Library Feed</a:t>
            </a:r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Show participants that the platform is not only for documents.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56DC5-C96E-F2CE-594D-2FFFF54287CE}"/>
              </a:ext>
            </a:extLst>
          </p:cNvPr>
          <p:cNvSpPr txBox="1"/>
          <p:nvPr/>
        </p:nvSpPr>
        <p:spPr>
          <a:xfrm>
            <a:off x="3390682" y="5192878"/>
            <a:ext cx="47246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Goal: Helps participants learn through visual, easy-to-follow content they can watch at their own pace.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5FE338E4-0ABD-5322-8B31-E44900401F4F}"/>
              </a:ext>
            </a:extLst>
          </p:cNvPr>
          <p:cNvSpPr/>
          <p:nvPr/>
        </p:nvSpPr>
        <p:spPr>
          <a:xfrm>
            <a:off x="2417260" y="2000144"/>
            <a:ext cx="6659389" cy="3191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4F6F8"/>
                </a:solidFill>
              </a:rPr>
              <a:t>1. </a:t>
            </a:r>
            <a:r>
              <a:rPr lang="en-US" dirty="0">
                <a:solidFill>
                  <a:srgbClr val="F4F6F8"/>
                </a:solidFill>
              </a:rPr>
              <a:t>Offers quick </a:t>
            </a:r>
            <a:r>
              <a:rPr lang="en-US">
                <a:solidFill>
                  <a:srgbClr val="F4F6F8"/>
                </a:solidFill>
              </a:rPr>
              <a:t>access to career readiness videos.</a:t>
            </a:r>
          </a:p>
          <a:p>
            <a:r>
              <a:rPr lang="en-US" dirty="0">
                <a:solidFill>
                  <a:srgbClr val="F4F6F8"/>
                </a:solidFill>
              </a:rPr>
              <a:t>2. Supports different learning styles through visual cont</a:t>
            </a:r>
            <a:r>
              <a:rPr lang="en-US">
                <a:solidFill>
                  <a:srgbClr val="F4F6F8"/>
                </a:solidFill>
              </a:rPr>
              <a:t>ent</a:t>
            </a:r>
          </a:p>
          <a:p>
            <a:r>
              <a:rPr lang="en-US">
                <a:solidFill>
                  <a:srgbClr val="F4F6F8"/>
                </a:solidFill>
              </a:rPr>
              <a:t>3. Covers topics like resume, interviews, and job search tips</a:t>
            </a:r>
          </a:p>
          <a:p>
            <a:r>
              <a:rPr lang="en-US" dirty="0">
                <a:solidFill>
                  <a:srgbClr val="F4F6F8"/>
                </a:solidFill>
              </a:rPr>
              <a:t>4. Helps reinforce lesson taught during worksh</a:t>
            </a:r>
            <a:r>
              <a:rPr lang="en-US">
                <a:solidFill>
                  <a:srgbClr val="F4F6F8"/>
                </a:solidFill>
              </a:rPr>
              <a:t>ops</a:t>
            </a:r>
          </a:p>
          <a:p>
            <a:r>
              <a:rPr lang="en-US" dirty="0">
                <a:solidFill>
                  <a:srgbClr val="F4F6F8"/>
                </a:solidFill>
              </a:rPr>
              <a:t>5. Gives participants tools they can revisi</a:t>
            </a:r>
            <a:r>
              <a:rPr lang="en-US">
                <a:solidFill>
                  <a:srgbClr val="F4F6F8"/>
                </a:solidFill>
              </a:rPr>
              <a:t>t anytime</a:t>
            </a:r>
          </a:p>
          <a:p>
            <a:r>
              <a:rPr lang="en-US">
                <a:solidFill>
                  <a:srgbClr val="F4F6F8"/>
                </a:solidFill>
              </a:rPr>
              <a:t>6. Makes learning more engaging and interactive</a:t>
            </a:r>
          </a:p>
          <a:p>
            <a:r>
              <a:rPr lang="en-US">
                <a:solidFill>
                  <a:srgbClr val="F4F6F8"/>
                </a:solidFill>
              </a:rPr>
              <a:t>7. Breaks down important topics into simple, digestible videos</a:t>
            </a:r>
          </a:p>
          <a:p>
            <a:r>
              <a:rPr lang="en-US" dirty="0">
                <a:solidFill>
                  <a:srgbClr val="F4F6F8"/>
                </a:solidFill>
              </a:rPr>
              <a:t>8. Expands the toolkit beyond forms and generat</a:t>
            </a:r>
            <a:r>
              <a:rPr lang="en-US">
                <a:solidFill>
                  <a:srgbClr val="F4F6F8"/>
                </a:solidFill>
              </a:rPr>
              <a:t>ors</a:t>
            </a:r>
          </a:p>
          <a:p>
            <a:endParaRPr lang="en-US" dirty="0">
              <a:solidFill>
                <a:srgbClr val="F4F6F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AE6A44-5CEB-4699-BEA5-A9E4D0C084E3.jpeg"/>
          <p:cNvPicPr>
            <a:picLocks noChangeAspect="1"/>
          </p:cNvPicPr>
          <p:nvPr/>
        </p:nvPicPr>
        <p:blipFill>
          <a:blip r:embed="rId3"/>
          <a:srcRect t="11355" b="11355"/>
          <a:stretch/>
        </p:blipFill>
        <p:spPr>
          <a:xfrm>
            <a:off x="0" y="164592"/>
            <a:ext cx="12191695" cy="6281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4592"/>
            <a:ext cx="12191695" cy="6281928"/>
          </a:xfrm>
          <a:prstGeom prst="rect">
            <a:avLst/>
          </a:prstGeom>
          <a:solidFill>
            <a:srgbClr val="08111F">
              <a:alpha val="62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2 — 15 minutes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2606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When we return, we will finish remaining tools and review final resumes.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3DFB8F4-1869-BFF8-6872-868B5EF7D8D3}"/>
              </a:ext>
            </a:extLst>
          </p:cNvPr>
          <p:cNvSpPr/>
          <p:nvPr/>
        </p:nvSpPr>
        <p:spPr>
          <a:xfrm>
            <a:off x="4181824" y="1465170"/>
            <a:ext cx="6214314" cy="3935526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342B6-8C03-AF9B-ADD8-027C4E6A8809}"/>
              </a:ext>
            </a:extLst>
          </p:cNvPr>
          <p:cNvSpPr txBox="1"/>
          <p:nvPr/>
        </p:nvSpPr>
        <p:spPr>
          <a:xfrm>
            <a:off x="325909" y="2119238"/>
            <a:ext cx="36266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Ace Your Job Interview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9027D-D4EF-F4F3-85F7-598E8C0E3D8C}"/>
              </a:ext>
            </a:extLst>
          </p:cNvPr>
          <p:cNvSpPr txBox="1"/>
          <p:nvPr/>
        </p:nvSpPr>
        <p:spPr>
          <a:xfrm>
            <a:off x="4512331" y="3337665"/>
            <a:ext cx="53877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</a:rPr>
              <a:t>Show confidence and </a:t>
            </a:r>
            <a:r>
              <a:rPr lang="en-US">
                <a:solidFill>
                  <a:schemeClr val="bg1"/>
                </a:solidFill>
              </a:rPr>
              <a:t>professionalism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Make strong first impression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Ask thoughtful questions at the end of the interview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</a:rPr>
              <a:t>Follow up </a:t>
            </a:r>
            <a:r>
              <a:rPr lang="en-US">
                <a:solidFill>
                  <a:schemeClr val="bg1"/>
                </a:solidFill>
              </a:rPr>
              <a:t>professionally after the interview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70D15-B33D-8365-AF58-AD03CB70D24A}"/>
              </a:ext>
            </a:extLst>
          </p:cNvPr>
          <p:cNvSpPr txBox="1"/>
          <p:nvPr/>
        </p:nvSpPr>
        <p:spPr>
          <a:xfrm>
            <a:off x="466164" y="3155769"/>
            <a:ext cx="31824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Goal: Help you feel prepared, confident, and ready to </a:t>
            </a:r>
            <a:r>
              <a:rPr lang="en-US">
                <a:solidFill>
                  <a:schemeClr val="bg1"/>
                </a:solidFill>
              </a:rPr>
              <a:t>succeed.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A8A25-14C9-58C9-2DC9-E8050D727A21}"/>
              </a:ext>
            </a:extLst>
          </p:cNvPr>
          <p:cNvSpPr txBox="1"/>
          <p:nvPr/>
        </p:nvSpPr>
        <p:spPr>
          <a:xfrm>
            <a:off x="4683914" y="2348463"/>
            <a:ext cx="52174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we're going to watch a video on how to Ace  our Job Interview.</a:t>
            </a:r>
          </a:p>
        </p:txBody>
      </p:sp>
    </p:spTree>
    <p:extLst>
      <p:ext uri="{BB962C8B-B14F-4D97-AF65-F5344CB8AC3E}">
        <p14:creationId xmlns:p14="http://schemas.microsoft.com/office/powerpoint/2010/main" val="750829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Watch this BEFORE Your Job Interview">
            <a:hlinkClick r:id="" action="ppaction://noaction"/>
            <a:extLst>
              <a:ext uri="{FF2B5EF4-FFF2-40B4-BE49-F238E27FC236}">
                <a16:creationId xmlns:a16="http://schemas.microsoft.com/office/drawing/2014/main" id="{132F0BCD-A304-0C55-8946-5E497EE55CC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4458" y="276123"/>
            <a:ext cx="11849253" cy="606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45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827F8A51-9C36-0EF6-5A56-656DB1228CC5}"/>
              </a:ext>
            </a:extLst>
          </p:cNvPr>
          <p:cNvSpPr/>
          <p:nvPr/>
        </p:nvSpPr>
        <p:spPr>
          <a:xfrm>
            <a:off x="4943824" y="1375041"/>
            <a:ext cx="6214314" cy="3935526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FC37C-7DD7-00D5-AB0F-0250C0362680}"/>
              </a:ext>
            </a:extLst>
          </p:cNvPr>
          <p:cNvSpPr txBox="1"/>
          <p:nvPr/>
        </p:nvSpPr>
        <p:spPr>
          <a:xfrm>
            <a:off x="6309032" y="3158613"/>
            <a:ext cx="348225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Dress for the job you want</a:t>
            </a:r>
            <a:endParaRPr lang="en-US" sz="18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Match the workplace culture</a:t>
            </a: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FFFFFF"/>
                </a:solidFill>
                <a:latin typeface="Aptos"/>
                <a:ea typeface="Arial"/>
                <a:cs typeface="Arial"/>
              </a:rPr>
              <a:t>Keep it nea</a:t>
            </a: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t and professional</a:t>
            </a: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Not every job needs a suit</a:t>
            </a:r>
            <a:endParaRPr lang="en-US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Aptos"/>
                <a:ea typeface="Arial"/>
                <a:cs typeface="Arial"/>
              </a:rPr>
              <a:t>First impressions matter</a:t>
            </a:r>
            <a:endParaRPr lang="en-US" sz="1800" b="0" i="0">
              <a:solidFill>
                <a:srgbClr val="FFFFFF"/>
              </a:solidFill>
              <a:latin typeface="Aptos"/>
              <a:ea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AC463-F8D9-85EB-3049-752ABC72AB90}"/>
              </a:ext>
            </a:extLst>
          </p:cNvPr>
          <p:cNvSpPr txBox="1"/>
          <p:nvPr/>
        </p:nvSpPr>
        <p:spPr>
          <a:xfrm>
            <a:off x="-1833" y="1979948"/>
            <a:ext cx="43804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Dressing for the Interview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4FEA8-7011-564C-BA84-8B4F0853AD3B}"/>
              </a:ext>
            </a:extLst>
          </p:cNvPr>
          <p:cNvSpPr txBox="1"/>
          <p:nvPr/>
        </p:nvSpPr>
        <p:spPr>
          <a:xfrm>
            <a:off x="597261" y="3155769"/>
            <a:ext cx="31824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Goal: Dress for the job you </a:t>
            </a:r>
            <a:r>
              <a:rPr lang="en-US">
                <a:solidFill>
                  <a:schemeClr val="bg1"/>
                </a:solidFill>
              </a:rPr>
              <a:t>want while keeping the </a:t>
            </a:r>
            <a:r>
              <a:rPr lang="en-US" dirty="0">
                <a:solidFill>
                  <a:schemeClr val="bg1"/>
                </a:solidFill>
              </a:rPr>
              <a:t>company culture in mind.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A20284-4A61-31CC-5CB0-9F3E46DCD780}"/>
              </a:ext>
            </a:extLst>
          </p:cNvPr>
          <p:cNvSpPr txBox="1"/>
          <p:nvPr/>
        </p:nvSpPr>
        <p:spPr>
          <a:xfrm>
            <a:off x="5445914" y="2291108"/>
            <a:ext cx="52174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we're going to watch a short video on how to dress based on the job you're interviewing for. </a:t>
            </a:r>
          </a:p>
        </p:txBody>
      </p:sp>
    </p:spTree>
    <p:extLst>
      <p:ext uri="{BB962C8B-B14F-4D97-AF65-F5344CB8AC3E}">
        <p14:creationId xmlns:p14="http://schemas.microsoft.com/office/powerpoint/2010/main" val="722979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How To Dress For Any Kind Of Job Interview">
            <a:hlinkClick r:id="" action="ppaction://noaction"/>
            <a:extLst>
              <a:ext uri="{FF2B5EF4-FFF2-40B4-BE49-F238E27FC236}">
                <a16:creationId xmlns:a16="http://schemas.microsoft.com/office/drawing/2014/main" id="{19FA89D0-914C-3E8D-B5AD-92DE91C30D0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0845" y="226962"/>
            <a:ext cx="11791898" cy="615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61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website practice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Give participants time to work inside HireMinds while support is available.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6420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1. Sign in and confirm the Career Passport account is active.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2. Complete the profile editor with basic information, headline, and short bio.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163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3. Build a resume draft and review format choices.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3924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4. Use soft skills and industry core skills to improve the draft.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96849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5. Open one more generator: cover letter, follow-up, budget, job log, interview question, career path, or career goal.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5445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6F8"/>
                </a:solidFill>
              </a:rPr>
              <a:t>6. Save progress and identify one action to complete after the workshop.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3492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4AF5A"/>
                </a:solidFill>
              </a:rPr>
              <a:t>Facilitator check-in: stop halfway through this activity and ask who has a completed resume draft already saved.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and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8"/>
                </a:solidFill>
              </a:rPr>
              <a:t>End the workshop with something completed and something planned.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D2038"/>
          </a:solidFill>
          <a:ln w="12700">
            <a:solidFill>
              <a:srgbClr val="617A98"/>
            </a:solidFill>
            <a:prstDash val="solid"/>
          </a:ln>
          <a:effectLst>
            <a:outerShdw blurRad="19050" dist="63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91138" y="1922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participants leave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67011" y="1922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final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950" y="2753958"/>
            <a:ext cx="4790738" cy="20816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the Career Passport account is active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the resume draft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at least one generator output besides the resume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two skills to keep building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the next action after today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64317" y="2700169"/>
            <a:ext cx="4790738" cy="200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resume match the target role?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contact information correct?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soft skills and industry core skills reviewed?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one interview or follow-up tool used?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will the participant do next within 48 hours?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C938-0ABB-2A31-E1C8-71B7179D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EACAA2-6318-F32C-1C16-B92E52270C5C}"/>
              </a:ext>
            </a:extLst>
          </p:cNvPr>
          <p:cNvSpPr/>
          <p:nvPr/>
        </p:nvSpPr>
        <p:spPr>
          <a:xfrm>
            <a:off x="0" y="173557"/>
            <a:ext cx="12191695" cy="6281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17BE215-B527-867C-8E75-0EFF8CE5A1AE}"/>
              </a:ext>
            </a:extLst>
          </p:cNvPr>
          <p:cNvSpPr/>
          <p:nvPr/>
        </p:nvSpPr>
        <p:spPr>
          <a:xfrm>
            <a:off x="1152707" y="2238891"/>
            <a:ext cx="3653668" cy="631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 err="1">
                <a:solidFill>
                  <a:schemeClr val="accent1">
                    <a:lumMod val="76000"/>
                  </a:schemeClr>
                </a:solidFill>
                <a:latin typeface="Garamond"/>
                <a:ea typeface="Georgia" pitchFamily="34" charset="-122"/>
                <a:cs typeface="Georgia" pitchFamily="34" charset="-120"/>
              </a:rPr>
              <a:t>HireMinds</a:t>
            </a:r>
            <a:r>
              <a:rPr lang="en-US" sz="2700" dirty="0" err="1">
                <a:solidFill>
                  <a:schemeClr val="accent1">
                    <a:lumMod val="76000"/>
                  </a:schemeClr>
                </a:solidFill>
                <a:latin typeface="Georgia"/>
                <a:ea typeface="Georgia" pitchFamily="34" charset="-122"/>
                <a:cs typeface="Georgia" pitchFamily="34" charset="-120"/>
              </a:rPr>
              <a:t>.</a:t>
            </a:r>
            <a:r>
              <a:rPr lang="en-US" sz="2700" i="1" dirty="0" err="1">
                <a:solidFill>
                  <a:schemeClr val="accent1">
                    <a:lumMod val="76000"/>
                  </a:schemeClr>
                </a:solidFill>
                <a:latin typeface="Pristina"/>
              </a:rPr>
              <a:t>app</a:t>
            </a:r>
            <a:endParaRPr lang="en-US" sz="2700" i="1">
              <a:solidFill>
                <a:schemeClr val="accent1">
                  <a:lumMod val="76000"/>
                </a:schemeClr>
              </a:solidFill>
              <a:latin typeface="Pristina"/>
            </a:endParaRPr>
          </a:p>
          <a:p>
            <a:pPr marL="0" indent="0">
              <a:buNone/>
            </a:pPr>
            <a:r>
              <a:rPr lang="en-US" sz="2700" dirty="0">
                <a:solidFill>
                  <a:schemeClr val="accent1">
                    <a:lumMod val="76000"/>
                  </a:schemeClr>
                </a:solidFill>
                <a:latin typeface="Garamond"/>
              </a:rPr>
              <a:t>A product of </a:t>
            </a:r>
            <a:r>
              <a:rPr lang="en-US" sz="2700" dirty="0" err="1">
                <a:solidFill>
                  <a:schemeClr val="accent1">
                    <a:lumMod val="76000"/>
                  </a:schemeClr>
                </a:solidFill>
                <a:latin typeface="Garamond"/>
              </a:rPr>
              <a:t>RicanNECT</a:t>
            </a:r>
            <a:endParaRPr lang="en-US" sz="2700" dirty="0">
              <a:solidFill>
                <a:schemeClr val="accent1">
                  <a:lumMod val="76000"/>
                </a:schemeClr>
              </a:solidFill>
              <a:latin typeface="Garamond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83CEE7E-0335-8E84-DBA2-812E837824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9C7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28D07490-B850-5BCA-8CFC-BAF03763B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35" y="806823"/>
            <a:ext cx="5271248" cy="5253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3F9AA5-0430-D31D-EAA2-60E2B63ECD70}"/>
              </a:ext>
            </a:extLst>
          </p:cNvPr>
          <p:cNvSpPr txBox="1"/>
          <p:nvPr/>
        </p:nvSpPr>
        <p:spPr>
          <a:xfrm>
            <a:off x="1444474" y="3741848"/>
            <a:ext cx="22541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76000"/>
                  </a:schemeClr>
                </a:solidFill>
                <a:latin typeface="Garamond"/>
              </a:rPr>
              <a:t>Ismary Torres Szegedi</a:t>
            </a:r>
          </a:p>
          <a:p>
            <a:r>
              <a:rPr lang="en-US" dirty="0" err="1">
                <a:solidFill>
                  <a:schemeClr val="accent1">
                    <a:lumMod val="76000"/>
                  </a:schemeClr>
                </a:solidFill>
                <a:latin typeface="Garamond"/>
              </a:rPr>
              <a:t>Info@hireminds.app</a:t>
            </a:r>
          </a:p>
        </p:txBody>
      </p:sp>
    </p:spTree>
    <p:extLst>
      <p:ext uri="{BB962C8B-B14F-4D97-AF65-F5344CB8AC3E}">
        <p14:creationId xmlns:p14="http://schemas.microsoft.com/office/powerpoint/2010/main" val="249891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29</Slides>
  <Notes>18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HireMinds Resume Workshop</dc:title>
  <dc:subject>HireMinds Resume Workshop</dc:subject>
  <dc:creator>OpenAI</dc:creator>
  <cp:lastModifiedBy>OpenAI</cp:lastModifiedBy>
  <cp:revision>973</cp:revision>
  <dcterms:created xsi:type="dcterms:W3CDTF">2026-03-27T17:22:09Z</dcterms:created>
  <dcterms:modified xsi:type="dcterms:W3CDTF">2026-03-30T23:48:09Z</dcterms:modified>
</cp:coreProperties>
</file>